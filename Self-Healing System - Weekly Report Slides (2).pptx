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Intelligent Self-Healing Software System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Using Anomaly Detection and Automated Recovery — Weekly Report (Week 3): Project Overview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Bharath BM  |  Reg. No. 25PG00158  |  MCA (Data Science and Machine Learning), Chanakya University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11247120" cy="0"/>
          </a:xfrm>
          <a:prstGeom prst="line">
            <a:avLst/>
          </a:prstGeom>
          <a:noFill/>
          <a:ln w="9525">
            <a:solidFill>
              <a:srgbClr val="6E6E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874520"/>
            <a:ext cx="7315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4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Problem: </a:t>
            </a:r>
            <a:pPr indent="0" marL="0">
              <a:spcAft>
                <a:spcPts val="1400"/>
              </a:spcAft>
              <a:buNone/>
            </a:pPr>
            <a:r>
              <a:rPr lang="en-US" sz="14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Production services fail unpredictably (load spikes, crashes, slow dependencies), and recovery today depends on a human noticing and acting — causing delay.</a:t>
            </a:r>
            <a:endParaRPr lang="en-US" sz="14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solution: </a:t>
            </a:r>
            <a:pPr indent="0" marL="0">
              <a:spcAft>
                <a:spcPts val="1400"/>
              </a:spcAft>
              <a:buNone/>
            </a:pPr>
            <a:r>
              <a:rPr lang="en-US" sz="14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platform that monitors service metrics, uses an Isolation Forest model to detect anomalies, applies a rule-based policy engine, executes a fixed catalogue of safe recovery actions, verifies the result, and logs everything for audit.</a:t>
            </a:r>
            <a:endParaRPr lang="en-US" sz="14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 objective: </a:t>
            </a:r>
            <a:pPr indent="0" marL="0">
              <a:spcAft>
                <a:spcPts val="1400"/>
              </a:spcAft>
              <a:buNone/>
            </a:pPr>
            <a:r>
              <a:rPr lang="en-US" sz="14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and build a self-healing platform that autonomously detects anomalies, executes controlled and verifiable recovery, and maintains a complete, secure audit record.</a:t>
            </a:r>
            <a:endParaRPr lang="en-US" sz="14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Scope: </a:t>
            </a:r>
            <a:pPr indent="0" marL="0">
              <a:spcAft>
                <a:spcPts val="1400"/>
              </a:spcAft>
              <a:buNone/>
            </a:pPr>
            <a:r>
              <a:rPr lang="en-US" sz="14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Single-host, Docker-deployable demonstration covering monitoring, ML detection, policy/recovery engines, verification, audit logging, and a React dashboard.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092440" y="187452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EAF1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366760" y="2057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Six Failure Categories Handled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366760" y="251460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CPU utilization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memory utilization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Slow API response time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error rate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 / container crash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 unavailability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366760" y="466344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Planned stack: FastAPI, PostgreSQL, React, Isolation Forest (scikit-learn), Docker Compose.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Design/specification stage — no implementation or results yet (Week 2 Blueprint).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End-to-End System Flow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920240" cy="365760"/>
          </a:xfrm>
          <a:prstGeom prst="roundRect">
            <a:avLst>
              <a:gd name="adj" fmla="val 15000"/>
            </a:avLst>
          </a:prstGeom>
          <a:solidFill>
            <a:srgbClr val="EAF1FB"/>
          </a:solidFill>
          <a:ln w="1397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731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 / Begin 24/7 Monitoring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417320" y="1097280"/>
            <a:ext cx="0" cy="201168"/>
          </a:xfrm>
          <a:prstGeom prst="line">
            <a:avLst/>
          </a:prstGeom>
          <a:noFill/>
          <a:ln w="1397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57200" y="1298448"/>
            <a:ext cx="1920240" cy="438912"/>
          </a:xfrm>
          <a:prstGeom prst="roundRect">
            <a:avLst>
              <a:gd name="adj" fmla="val 12500"/>
            </a:avLst>
          </a:prstGeom>
          <a:solidFill>
            <a:srgbClr val="EAF1FB"/>
          </a:solidFill>
          <a:ln w="13970">
            <a:solidFill>
              <a:srgbClr val="1F386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9844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 Metrics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(CPU, mem, resp, err, req, avail)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17320" y="1737360"/>
            <a:ext cx="0" cy="182880"/>
          </a:xfrm>
          <a:prstGeom prst="line">
            <a:avLst/>
          </a:prstGeom>
          <a:noFill/>
          <a:ln w="1397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" y="1920240"/>
            <a:ext cx="1920240" cy="438912"/>
          </a:xfrm>
          <a:prstGeom prst="roundRect">
            <a:avLst>
              <a:gd name="adj" fmla="val 12500"/>
            </a:avLst>
          </a:prstGeom>
          <a:solidFill>
            <a:srgbClr val="EAF1FB"/>
          </a:solidFill>
          <a:ln w="1397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9202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Isolation Forest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Scores Sample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417320" y="2359152"/>
            <a:ext cx="0" cy="182880"/>
          </a:xfrm>
          <a:prstGeom prst="line">
            <a:avLst/>
          </a:prstGeom>
          <a:noFill/>
          <a:ln w="1397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65760" y="2542032"/>
            <a:ext cx="2103120" cy="621792"/>
          </a:xfrm>
          <a:prstGeom prst="diamond">
            <a:avLst/>
          </a:prstGeom>
          <a:solidFill>
            <a:srgbClr val="FCEFD9"/>
          </a:solidFill>
          <a:ln w="13970">
            <a:solidFill>
              <a:srgbClr val="B886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" y="2542032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4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Anomaly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E4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Detected?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4592" y="2852928"/>
            <a:ext cx="201168" cy="0"/>
          </a:xfrm>
          <a:prstGeom prst="line">
            <a:avLst/>
          </a:prstGeom>
          <a:noFill/>
          <a:ln w="13970">
            <a:solidFill>
              <a:srgbClr val="6E6E6E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64592" y="1517904"/>
            <a:ext cx="0" cy="1335024"/>
          </a:xfrm>
          <a:prstGeom prst="line">
            <a:avLst/>
          </a:prstGeom>
          <a:noFill/>
          <a:ln w="13970">
            <a:solidFill>
              <a:srgbClr val="6E6E6E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64592" y="1517904"/>
            <a:ext cx="292608" cy="0"/>
          </a:xfrm>
          <a:prstGeom prst="line">
            <a:avLst/>
          </a:prstGeom>
          <a:noFill/>
          <a:ln w="1397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118872" y="2560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417320" y="3163824"/>
            <a:ext cx="0" cy="201168"/>
          </a:xfrm>
          <a:prstGeom prst="line">
            <a:avLst/>
          </a:prstGeom>
          <a:noFill/>
          <a:ln w="1397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1143000" y="31821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364992"/>
            <a:ext cx="1920240" cy="438912"/>
          </a:xfrm>
          <a:prstGeom prst="roundRect">
            <a:avLst>
              <a:gd name="adj" fmla="val 12500"/>
            </a:avLst>
          </a:prstGeom>
          <a:solidFill>
            <a:srgbClr val="EAF1FB"/>
          </a:solidFill>
          <a:ln w="1397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36499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Create Anomaly Record;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Classify Severity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417320" y="3803904"/>
            <a:ext cx="0" cy="182880"/>
          </a:xfrm>
          <a:prstGeom prst="line">
            <a:avLst/>
          </a:prstGeom>
          <a:noFill/>
          <a:ln w="1397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65760" y="3986784"/>
            <a:ext cx="2103120" cy="621792"/>
          </a:xfrm>
          <a:prstGeom prst="diamond">
            <a:avLst/>
          </a:prstGeom>
          <a:solidFill>
            <a:srgbClr val="FCEFD9"/>
          </a:solidFill>
          <a:ln w="13970">
            <a:solidFill>
              <a:srgbClr val="B8860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5760" y="3986784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E4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Recovery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6E4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Permitted?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6E4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(retry / cooldown)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468880" y="4297680"/>
            <a:ext cx="411480" cy="0"/>
          </a:xfrm>
          <a:prstGeom prst="line">
            <a:avLst/>
          </a:prstGeom>
          <a:noFill/>
          <a:ln w="1397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2487168" y="40233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880360" y="4078224"/>
            <a:ext cx="1920240" cy="438912"/>
          </a:xfrm>
          <a:prstGeom prst="roundRect">
            <a:avLst>
              <a:gd name="adj" fmla="val 12500"/>
            </a:avLst>
          </a:prstGeom>
          <a:solidFill>
            <a:srgbClr val="EAF1FB"/>
          </a:solidFill>
          <a:ln w="13970">
            <a:solidFill>
              <a:srgbClr val="1F386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880360" y="407822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Escalate 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Human Operator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417320" y="4608576"/>
            <a:ext cx="0" cy="219456"/>
          </a:xfrm>
          <a:prstGeom prst="line">
            <a:avLst/>
          </a:prstGeom>
          <a:noFill/>
          <a:ln w="1397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1143000" y="462686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828032"/>
            <a:ext cx="1920240" cy="438912"/>
          </a:xfrm>
          <a:prstGeom prst="roundRect">
            <a:avLst>
              <a:gd name="adj" fmla="val 12500"/>
            </a:avLst>
          </a:prstGeom>
          <a:solidFill>
            <a:srgbClr val="EAF1FB"/>
          </a:solidFill>
          <a:ln w="13970">
            <a:solidFill>
              <a:srgbClr val="1F386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7200" y="482803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Execute Predefined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Recovery Action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468880" y="5047488"/>
            <a:ext cx="411480" cy="0"/>
          </a:xfrm>
          <a:prstGeom prst="line">
            <a:avLst/>
          </a:prstGeom>
          <a:noFill/>
          <a:ln w="1397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880360" y="4828032"/>
            <a:ext cx="1920240" cy="438912"/>
          </a:xfrm>
          <a:prstGeom prst="roundRect">
            <a:avLst>
              <a:gd name="adj" fmla="val 12500"/>
            </a:avLst>
          </a:prstGeom>
          <a:solidFill>
            <a:srgbClr val="EAF1FB"/>
          </a:solidFill>
          <a:ln w="13970">
            <a:solidFill>
              <a:srgbClr val="1F386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880360" y="482803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Verify Service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(health, endpoint, metrics)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92040" y="5047488"/>
            <a:ext cx="411480" cy="0"/>
          </a:xfrm>
          <a:prstGeom prst="line">
            <a:avLst/>
          </a:prstGeom>
          <a:noFill/>
          <a:ln w="1397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257800" y="4709160"/>
            <a:ext cx="2011680" cy="658368"/>
          </a:xfrm>
          <a:prstGeom prst="diamond">
            <a:avLst/>
          </a:prstGeom>
          <a:solidFill>
            <a:srgbClr val="FCEFD9"/>
          </a:solidFill>
          <a:ln w="13970">
            <a:solidFill>
              <a:srgbClr val="B8860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257800" y="47091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4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Verification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6E4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Passed?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269480" y="5038344"/>
            <a:ext cx="457200" cy="0"/>
          </a:xfrm>
          <a:prstGeom prst="line">
            <a:avLst/>
          </a:prstGeom>
          <a:noFill/>
          <a:ln w="1397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7287768" y="476402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726680" y="4828032"/>
            <a:ext cx="1828800" cy="438912"/>
          </a:xfrm>
          <a:prstGeom prst="roundRect">
            <a:avLst>
              <a:gd name="adj" fmla="val 12500"/>
            </a:avLst>
          </a:prstGeom>
          <a:solidFill>
            <a:srgbClr val="EAF1FB"/>
          </a:solidFill>
          <a:ln w="13970">
            <a:solidFill>
              <a:srgbClr val="1F386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726680" y="482803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Resolve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Incident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63640" y="5367528"/>
            <a:ext cx="0" cy="228600"/>
          </a:xfrm>
          <a:prstGeom prst="line">
            <a:avLst/>
          </a:prstGeom>
          <a:noFill/>
          <a:ln w="1397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5989320" y="53858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303520" y="5596128"/>
            <a:ext cx="1920240" cy="438912"/>
          </a:xfrm>
          <a:prstGeom prst="roundRect">
            <a:avLst>
              <a:gd name="adj" fmla="val 12500"/>
            </a:avLst>
          </a:prstGeom>
          <a:solidFill>
            <a:srgbClr val="EAF1FB"/>
          </a:solidFill>
          <a:ln w="13970">
            <a:solidFill>
              <a:srgbClr val="1F386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303520" y="55961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Retry or Escalate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(within limits)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188720" y="6355080"/>
            <a:ext cx="8412480" cy="384048"/>
          </a:xfrm>
          <a:prstGeom prst="roundRect">
            <a:avLst>
              <a:gd name="adj" fmla="val 14286"/>
            </a:avLst>
          </a:prstGeom>
          <a:solidFill>
            <a:srgbClr val="EAF1FB"/>
          </a:solidFill>
          <a:ln w="13970">
            <a:solidFill>
              <a:srgbClr val="1F3864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188720" y="635508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Record Final Result in Audit Log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840480" y="4517136"/>
            <a:ext cx="0" cy="1837944"/>
          </a:xfrm>
          <a:prstGeom prst="line">
            <a:avLst/>
          </a:prstGeom>
          <a:noFill/>
          <a:ln w="13970">
            <a:solidFill>
              <a:srgbClr val="6E6E6E"/>
            </a:solidFill>
            <a:prstDash val="dash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8641080" y="5266944"/>
            <a:ext cx="0" cy="1088136"/>
          </a:xfrm>
          <a:prstGeom prst="line">
            <a:avLst/>
          </a:prstGeom>
          <a:noFill/>
          <a:ln w="13970">
            <a:solidFill>
              <a:srgbClr val="6E6E6E"/>
            </a:solidFill>
            <a:prstDash val="dash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6263640" y="6035040"/>
            <a:ext cx="0" cy="320040"/>
          </a:xfrm>
          <a:prstGeom prst="line">
            <a:avLst/>
          </a:prstGeom>
          <a:noFill/>
          <a:ln w="13970">
            <a:solidFill>
              <a:srgbClr val="6E6E6E"/>
            </a:solidFill>
            <a:prstDash val="dash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1188720" y="6547104"/>
            <a:ext cx="-1024128" cy="0"/>
          </a:xfrm>
          <a:prstGeom prst="line">
            <a:avLst/>
          </a:prstGeom>
          <a:noFill/>
          <a:ln w="13970">
            <a:solidFill>
              <a:srgbClr val="6E6E6E"/>
            </a:solidFill>
            <a:prstDash val="dash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164592" y="1517904"/>
            <a:ext cx="0" cy="5029200"/>
          </a:xfrm>
          <a:prstGeom prst="line">
            <a:avLst/>
          </a:prstGeom>
          <a:noFill/>
          <a:ln w="13970">
            <a:solidFill>
              <a:srgbClr val="6E6E6E"/>
            </a:solidFill>
            <a:prstDash val="dash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164592" y="1517904"/>
            <a:ext cx="292608" cy="0"/>
          </a:xfrm>
          <a:prstGeom prst="line">
            <a:avLst/>
          </a:prstGeom>
          <a:noFill/>
          <a:ln w="13970">
            <a:solidFill>
              <a:srgbClr val="6E6E6E"/>
            </a:solidFill>
            <a:prstDash val="dash"/>
            <a:tailEnd type="triangle"/>
          </a:ln>
        </p:spPr>
      </p:sp>
      <p:sp>
        <p:nvSpPr>
          <p:cNvPr id="55" name="Text 53"/>
          <p:cNvSpPr txBox="1"/>
          <p:nvPr/>
        </p:nvSpPr>
        <p:spPr>
          <a:xfrm>
            <a:off x="18288" y="61630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loops back —</a:t>
            </a:r>
            <a:endParaRPr lang="en-US" sz="850" dirty="0"/>
          </a:p>
          <a:p>
            <a:pPr algn="l"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repeats 24/7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2026-09-27T06:17:59Z</dcterms:created>
  <dcterms:modified xsi:type="dcterms:W3CDTF">2026-09-27T06:17:59Z</dcterms:modified>
</cp:coreProperties>
</file>